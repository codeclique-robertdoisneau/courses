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772ae2979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772ae2979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772ae29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772ae29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772ae297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772ae297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772ae297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772ae297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772ae297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772ae297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772ae297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772ae297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772ae297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772ae297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772ae297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772ae297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772ae2979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772ae297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772ae297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772ae297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772ae297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772ae297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772ae2979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772ae2979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Partie 3 - Calcul de seuil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304200"/>
            <a:ext cx="85206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6" name="Google Shape;56;p13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22372" l="10801" r="0" t="12629"/>
          <a:stretch/>
        </p:blipFill>
        <p:spPr>
          <a:xfrm>
            <a:off x="2274788" y="1237650"/>
            <a:ext cx="4594424" cy="33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Le concept de seuil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304200"/>
            <a:ext cx="85206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Objectif : </a:t>
            </a:r>
            <a:br>
              <a:rPr b="1" lang="fr">
                <a:solidFill>
                  <a:schemeClr val="lt1"/>
                </a:solidFill>
              </a:rPr>
            </a:br>
            <a:r>
              <a:rPr lang="fr" sz="1800">
                <a:solidFill>
                  <a:schemeClr val="lt1"/>
                </a:solidFill>
              </a:rPr>
              <a:t>Trouver le rang n à partir duquel : </a:t>
            </a:r>
            <a:br>
              <a:rPr lang="fr" sz="1800">
                <a:solidFill>
                  <a:schemeClr val="lt1"/>
                </a:solidFill>
              </a:rPr>
            </a:br>
            <a:r>
              <a:rPr lang="fr" sz="1800">
                <a:solidFill>
                  <a:schemeClr val="lt1"/>
                </a:solidFill>
              </a:rPr>
              <a:t>		</a:t>
            </a:r>
            <a:r>
              <a:rPr i="1" lang="fr" sz="1800">
                <a:solidFill>
                  <a:schemeClr val="lt1"/>
                </a:solidFill>
              </a:rPr>
              <a:t>Un &gt; Seuil</a:t>
            </a:r>
            <a:endParaRPr i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La question clé 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800">
                <a:solidFill>
                  <a:schemeClr val="lt1"/>
                </a:solidFill>
              </a:rPr>
              <a:t>“À quel moment la suite dépasse-t-elle </a:t>
            </a:r>
            <a:br>
              <a:rPr i="1" lang="fr" sz="1800">
                <a:solidFill>
                  <a:schemeClr val="lt1"/>
                </a:solidFill>
              </a:rPr>
            </a:br>
            <a:r>
              <a:rPr i="1" lang="fr" sz="1800">
                <a:solidFill>
                  <a:schemeClr val="lt1"/>
                </a:solidFill>
              </a:rPr>
              <a:t>une valeur précise ?" </a:t>
            </a:r>
            <a:endParaRPr i="1" sz="1800">
              <a:solidFill>
                <a:schemeClr val="lt1"/>
              </a:solidFill>
            </a:endParaRPr>
          </a:p>
        </p:txBody>
      </p:sp>
      <p:pic>
        <p:nvPicPr>
          <p:cNvPr id="65" name="Google Shape;65;p14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22372" l="10801" r="0" t="12629"/>
          <a:stretch/>
        </p:blipFill>
        <p:spPr>
          <a:xfrm>
            <a:off x="4763775" y="1414700"/>
            <a:ext cx="3708675" cy="27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La logique de l’algorithme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311700" y="1304200"/>
            <a:ext cx="8520600" cy="3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</a:rPr>
              <a:t>Le problème :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On ne </a:t>
            </a:r>
            <a:r>
              <a:rPr lang="fr" sz="1800">
                <a:solidFill>
                  <a:schemeClr val="lt1"/>
                </a:solidFill>
              </a:rPr>
              <a:t>connaît</a:t>
            </a:r>
            <a:r>
              <a:rPr lang="fr" sz="1800">
                <a:solidFill>
                  <a:schemeClr val="lt1"/>
                </a:solidFill>
              </a:rPr>
              <a:t> pas le nombre d’étapes à l’avance.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</a:rPr>
              <a:t>La solution :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Boucle “while” (tant que)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</a:rPr>
              <a:t>Idée générale :</a:t>
            </a:r>
            <a:endParaRPr b="1" sz="2200">
              <a:solidFill>
                <a:schemeClr val="lt1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➔"/>
            </a:pPr>
            <a:r>
              <a:rPr lang="fr" sz="1800">
                <a:solidFill>
                  <a:schemeClr val="lt1"/>
                </a:solidFill>
              </a:rPr>
              <a:t>Calculer les termes un par un.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➔"/>
            </a:pPr>
            <a:r>
              <a:rPr lang="fr" sz="1800">
                <a:solidFill>
                  <a:schemeClr val="lt1"/>
                </a:solidFill>
              </a:rPr>
              <a:t>S’arrêter quand la condition est </a:t>
            </a:r>
            <a:r>
              <a:rPr lang="fr" sz="1800">
                <a:solidFill>
                  <a:schemeClr val="lt1"/>
                </a:solidFill>
              </a:rPr>
              <a:t>vérifiée.</a:t>
            </a:r>
            <a:r>
              <a:rPr lang="fr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74" name="Google Shape;74;p15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Cas 1 : suite explicite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559200" y="1092600"/>
            <a:ext cx="8025600" cy="295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</a:rPr>
              <a:t>Rappel :</a:t>
            </a:r>
            <a:r>
              <a:rPr lang="fr" sz="2200">
                <a:solidFill>
                  <a:schemeClr val="lt1"/>
                </a:solidFill>
              </a:rPr>
              <a:t> Un = f(n) (ex: Un = 3n + 4).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</a:rPr>
              <a:t>Méthode :</a:t>
            </a:r>
            <a:endParaRPr b="1"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lang="fr" sz="2200">
                <a:solidFill>
                  <a:schemeClr val="lt1"/>
                </a:solidFill>
              </a:rPr>
              <a:t>Initialiser n (souvent n=0).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lang="fr" sz="2200">
                <a:solidFill>
                  <a:schemeClr val="lt1"/>
                </a:solidFill>
              </a:rPr>
              <a:t>Calculer Un.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fr" sz="2200">
                <a:solidFill>
                  <a:schemeClr val="lt1"/>
                </a:solidFill>
              </a:rPr>
              <a:t>Boucle while :</a:t>
            </a:r>
            <a:r>
              <a:rPr lang="fr" sz="2200">
                <a:solidFill>
                  <a:schemeClr val="lt1"/>
                </a:solidFill>
              </a:rPr>
              <a:t> Négation de la condition cherchée.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lang="fr" sz="2200">
                <a:solidFill>
                  <a:schemeClr val="lt1"/>
                </a:solidFill>
              </a:rPr>
              <a:t>Dans la boucle : n ← n+1 (Incrémentation), calculer Un</a:t>
            </a:r>
            <a:endParaRPr sz="22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</a:rPr>
              <a:t>Sortie :</a:t>
            </a:r>
            <a:r>
              <a:rPr lang="fr" sz="2200">
                <a:solidFill>
                  <a:schemeClr val="lt1"/>
                </a:solidFill>
              </a:rPr>
              <a:t> Renvoyer n.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2" name="Google Shape;82;p16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Structure du code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304200"/>
            <a:ext cx="85206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0" name="Google Shape;90;p17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2" name="Google Shape;92;p17" title="Capture d’écran 2026-02-11 à 22.25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9050" y="1304200"/>
            <a:ext cx="5545901" cy="329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Mise en application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8" name="Google Shape;98;p18"/>
          <p:cNvSpPr txBox="1"/>
          <p:nvPr>
            <p:ph idx="1" type="subTitle"/>
          </p:nvPr>
        </p:nvSpPr>
        <p:spPr>
          <a:xfrm>
            <a:off x="311700" y="1304200"/>
            <a:ext cx="85206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Un = 5n + 1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Trouver n tel que Un &gt;= 100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Code pour l’exo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9" name="Google Shape;99;p18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Correction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6" name="Google Shape;106;p19"/>
          <p:cNvSpPr txBox="1"/>
          <p:nvPr>
            <p:ph idx="1" type="subTitle"/>
          </p:nvPr>
        </p:nvSpPr>
        <p:spPr>
          <a:xfrm>
            <a:off x="311700" y="1304200"/>
            <a:ext cx="85206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7" name="Google Shape;107;p19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9" name="Google Shape;109;p19" title="Capture d’écran 2026-02-11 à 23.01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867" y="1304199"/>
            <a:ext cx="7092260" cy="302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Cas 2 : suite récurrente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20"/>
          <p:cNvSpPr txBox="1"/>
          <p:nvPr>
            <p:ph idx="1" type="subTitle"/>
          </p:nvPr>
        </p:nvSpPr>
        <p:spPr>
          <a:xfrm>
            <a:off x="559200" y="1092600"/>
            <a:ext cx="8025600" cy="295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</a:rPr>
              <a:t>Rappel :</a:t>
            </a:r>
            <a:r>
              <a:rPr lang="fr" sz="2200">
                <a:solidFill>
                  <a:schemeClr val="lt1"/>
                </a:solidFill>
              </a:rPr>
              <a:t> </a:t>
            </a:r>
            <a:r>
              <a:rPr lang="fr" sz="2200">
                <a:solidFill>
                  <a:schemeClr val="lt1"/>
                </a:solidFill>
              </a:rPr>
              <a:t>U</a:t>
            </a:r>
            <a:r>
              <a:rPr lang="fr" sz="1700">
                <a:solidFill>
                  <a:schemeClr val="lt1"/>
                </a:solidFill>
              </a:rPr>
              <a:t>n+1 </a:t>
            </a:r>
            <a:r>
              <a:rPr lang="fr" sz="2200">
                <a:solidFill>
                  <a:schemeClr val="lt1"/>
                </a:solidFill>
              </a:rPr>
              <a:t>= f(</a:t>
            </a:r>
            <a:r>
              <a:rPr lang="fr" sz="2200">
                <a:solidFill>
                  <a:schemeClr val="lt1"/>
                </a:solidFill>
              </a:rPr>
              <a:t>U</a:t>
            </a:r>
            <a:r>
              <a:rPr lang="fr" sz="1700">
                <a:solidFill>
                  <a:schemeClr val="lt1"/>
                </a:solidFill>
              </a:rPr>
              <a:t>n</a:t>
            </a:r>
            <a:r>
              <a:rPr lang="fr" sz="2200">
                <a:solidFill>
                  <a:schemeClr val="lt1"/>
                </a:solidFill>
              </a:rPr>
              <a:t>) (ex: U</a:t>
            </a:r>
            <a:r>
              <a:rPr lang="fr" sz="1700">
                <a:solidFill>
                  <a:schemeClr val="lt1"/>
                </a:solidFill>
              </a:rPr>
              <a:t>n+1</a:t>
            </a:r>
            <a:r>
              <a:rPr lang="fr" sz="2200">
                <a:solidFill>
                  <a:schemeClr val="lt1"/>
                </a:solidFill>
              </a:rPr>
              <a:t> = 3</a:t>
            </a:r>
            <a:r>
              <a:rPr lang="fr" sz="2200">
                <a:solidFill>
                  <a:schemeClr val="lt1"/>
                </a:solidFill>
              </a:rPr>
              <a:t>U</a:t>
            </a:r>
            <a:r>
              <a:rPr lang="fr" sz="1700">
                <a:solidFill>
                  <a:schemeClr val="lt1"/>
                </a:solidFill>
              </a:rPr>
              <a:t>n</a:t>
            </a:r>
            <a:r>
              <a:rPr lang="fr" sz="2200">
                <a:solidFill>
                  <a:schemeClr val="lt1"/>
                </a:solidFill>
              </a:rPr>
              <a:t> + 6).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</a:rPr>
              <a:t>Méthode :</a:t>
            </a:r>
            <a:endParaRPr b="1"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lang="fr" sz="2200">
                <a:solidFill>
                  <a:schemeClr val="lt1"/>
                </a:solidFill>
              </a:rPr>
              <a:t>Initialiser n (souvent n=0).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lang="fr" sz="2200">
                <a:solidFill>
                  <a:schemeClr val="lt1"/>
                </a:solidFill>
              </a:rPr>
              <a:t>Calculer U.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fr" sz="2200">
                <a:solidFill>
                  <a:schemeClr val="lt1"/>
                </a:solidFill>
              </a:rPr>
              <a:t>Boucle while :</a:t>
            </a:r>
            <a:r>
              <a:rPr lang="fr" sz="2200">
                <a:solidFill>
                  <a:schemeClr val="lt1"/>
                </a:solidFill>
              </a:rPr>
              <a:t> Négation de la condition cherchée.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lang="fr" sz="2200">
                <a:solidFill>
                  <a:schemeClr val="lt1"/>
                </a:solidFill>
              </a:rPr>
              <a:t>Dans la boucle : </a:t>
            </a:r>
            <a:r>
              <a:rPr lang="fr" sz="2200">
                <a:solidFill>
                  <a:schemeClr val="lt1"/>
                </a:solidFill>
              </a:rPr>
              <a:t>n ← n+1 (Incrémentation), r</a:t>
            </a:r>
            <a:r>
              <a:rPr lang="fr" sz="2200">
                <a:solidFill>
                  <a:schemeClr val="lt1"/>
                </a:solidFill>
              </a:rPr>
              <a:t>ecalculer U par récurrence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</a:rPr>
              <a:t>   </a:t>
            </a:r>
            <a:r>
              <a:rPr b="1" lang="fr" sz="2200">
                <a:solidFill>
                  <a:schemeClr val="lt1"/>
                </a:solidFill>
              </a:rPr>
              <a:t>Sortie :</a:t>
            </a:r>
            <a:r>
              <a:rPr lang="fr" sz="2200">
                <a:solidFill>
                  <a:schemeClr val="lt1"/>
                </a:solidFill>
              </a:rPr>
              <a:t> Renvoyer n.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6" name="Google Shape;116;p20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Structure du code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3" name="Google Shape;123;p21"/>
          <p:cNvSpPr txBox="1"/>
          <p:nvPr>
            <p:ph idx="1" type="subTitle"/>
          </p:nvPr>
        </p:nvSpPr>
        <p:spPr>
          <a:xfrm>
            <a:off x="311700" y="1304200"/>
            <a:ext cx="85206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4" name="Google Shape;124;p21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6" name="Google Shape;126;p21" title="Capture d’écran 2026-02-11 à 22.39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553" y="1253935"/>
            <a:ext cx="8110901" cy="302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Mise en application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2" name="Google Shape;132;p22"/>
          <p:cNvSpPr txBox="1"/>
          <p:nvPr>
            <p:ph idx="1" type="subTitle"/>
          </p:nvPr>
        </p:nvSpPr>
        <p:spPr>
          <a:xfrm>
            <a:off x="311700" y="1304200"/>
            <a:ext cx="85206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600">
                <a:solidFill>
                  <a:schemeClr val="lt1"/>
                </a:solidFill>
              </a:rPr>
              <a:t>U</a:t>
            </a:r>
            <a:r>
              <a:rPr lang="fr" sz="1700">
                <a:solidFill>
                  <a:schemeClr val="lt1"/>
                </a:solidFill>
              </a:rPr>
              <a:t>n+1</a:t>
            </a:r>
            <a:r>
              <a:rPr lang="fr" sz="2200">
                <a:solidFill>
                  <a:schemeClr val="lt1"/>
                </a:solidFill>
              </a:rPr>
              <a:t> </a:t>
            </a:r>
            <a:r>
              <a:rPr lang="fr" sz="2600">
                <a:solidFill>
                  <a:schemeClr val="lt1"/>
                </a:solidFill>
              </a:rPr>
              <a:t>= 3U</a:t>
            </a:r>
            <a:r>
              <a:rPr lang="fr" sz="1700">
                <a:solidFill>
                  <a:schemeClr val="lt1"/>
                </a:solidFill>
              </a:rPr>
              <a:t>n</a:t>
            </a:r>
            <a:r>
              <a:rPr lang="fr" sz="2200">
                <a:solidFill>
                  <a:schemeClr val="lt1"/>
                </a:solidFill>
              </a:rPr>
              <a:t> </a:t>
            </a:r>
            <a:r>
              <a:rPr lang="fr" sz="2600">
                <a:solidFill>
                  <a:schemeClr val="lt1"/>
                </a:solidFill>
              </a:rPr>
              <a:t>+ 6, U</a:t>
            </a:r>
            <a:r>
              <a:rPr lang="fr" sz="1600">
                <a:solidFill>
                  <a:schemeClr val="lt1"/>
                </a:solidFill>
              </a:rPr>
              <a:t>0</a:t>
            </a:r>
            <a:r>
              <a:rPr lang="fr" sz="2600">
                <a:solidFill>
                  <a:schemeClr val="lt1"/>
                </a:solidFill>
              </a:rPr>
              <a:t> = 2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Trouver n tel que Un &gt;= 100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Code pour l’exo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3" name="Google Shape;133;p22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Correction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3"/>
          <p:cNvSpPr txBox="1"/>
          <p:nvPr>
            <p:ph idx="1" type="subTitle"/>
          </p:nvPr>
        </p:nvSpPr>
        <p:spPr>
          <a:xfrm>
            <a:off x="311700" y="1304200"/>
            <a:ext cx="85206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1" name="Google Shape;141;p23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3" name="Google Shape;143;p23" title="Capture d’écran 2026-02-11 à 22.42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962" y="1198525"/>
            <a:ext cx="7126074" cy="31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ctrTitle"/>
          </p:nvPr>
        </p:nvSpPr>
        <p:spPr>
          <a:xfrm>
            <a:off x="311700" y="0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Pièges à éviter &amp; résumé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9" name="Google Shape;149;p24"/>
          <p:cNvSpPr txBox="1"/>
          <p:nvPr>
            <p:ph idx="1" type="subTitle"/>
          </p:nvPr>
        </p:nvSpPr>
        <p:spPr>
          <a:xfrm>
            <a:off x="311700" y="1304200"/>
            <a:ext cx="85206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800">
                <a:solidFill>
                  <a:schemeClr val="lt1"/>
                </a:solidFill>
              </a:rPr>
              <a:t>Attention : La boucle infinie !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2300">
                <a:solidFill>
                  <a:srgbClr val="FF0000"/>
                </a:solidFill>
              </a:rPr>
              <a:t>⚠ </a:t>
            </a:r>
            <a:r>
              <a:rPr lang="fr" sz="1800">
                <a:solidFill>
                  <a:schemeClr val="lt1"/>
                </a:solidFill>
              </a:rPr>
              <a:t>Si le seuil n'est jamais atteint, le programme ne s'arrête jamais.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800">
                <a:solidFill>
                  <a:schemeClr val="lt1"/>
                </a:solidFill>
              </a:rPr>
              <a:t>Syntaxe :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1800">
                <a:solidFill>
                  <a:schemeClr val="lt1"/>
                </a:solidFill>
              </a:rPr>
              <a:t>Ne pas oublier les deux points : après le while.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1800">
                <a:solidFill>
                  <a:schemeClr val="lt1"/>
                </a:solidFill>
              </a:rPr>
              <a:t>Respecter l'indentation (décalage vers la droite).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800">
                <a:solidFill>
                  <a:schemeClr val="lt1"/>
                </a:solidFill>
              </a:rPr>
              <a:t>Résumé :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1800">
                <a:solidFill>
                  <a:schemeClr val="lt1"/>
                </a:solidFill>
              </a:rPr>
              <a:t>Chercher un rang →  Boucle while.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1800">
                <a:solidFill>
                  <a:schemeClr val="lt1"/>
                </a:solidFill>
              </a:rPr>
              <a:t>Condition du while → Contraire de ce qu'on cherche.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0" name="Google Shape;150;p24" title="logo_v1_b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7625"/>
            <a:ext cx="915876" cy="915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